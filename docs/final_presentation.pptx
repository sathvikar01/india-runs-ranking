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02A43"/>
                </a:solidFill>
              </a:rPr>
              <a:t>Candidate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F1F1F"/>
                </a:solidFill>
              </a:rPr>
              <a:t>Redrob Hackathon v4 — Intelligent Candidate Discovery &amp;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67E22"/>
                </a:solidFill>
              </a:rPr>
              <a:t>India Runs Data &amp; AI Challenge  ·  2026-06-17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arsat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A43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1F1F"/>
                </a:solidFill>
              </a:rPr>
              <a:t>• Rank the top 100 of 100 000 candidates for a Senior AI Engineer role at a Series A AI-native talent platform.</a:t>
            </a:r>
          </a:p>
          <a:p>
            <a:r>
              <a:rPr sz="1800">
                <a:solidFill>
                  <a:srgbClr val="1F1F1F"/>
                </a:solidFill>
              </a:rPr>
              <a:t>• Scoring: 0.50·NDCG@10 + 0.30·NDCG@50 + 0.15·MAP + 0.05·P@10.</a:t>
            </a:r>
          </a:p>
          <a:p>
            <a:r>
              <a:rPr sz="1800">
                <a:solidFill>
                  <a:srgbClr val="1F1F1F"/>
                </a:solidFill>
              </a:rPr>
              <a:t>• Hard constraints at ranking time: ≤ 5 min, 16 GB RAM, CPU only, no network.</a:t>
            </a:r>
          </a:p>
          <a:p>
            <a:r>
              <a:rPr sz="1800">
                <a:solidFill>
                  <a:srgbClr val="1F1F1F"/>
                </a:solidFill>
              </a:rPr>
              <a:t>• Three deliberate traps in the pool: keyword-stuffers, plain-language Tier 5s, and ~80 honeypots with subtly impossible profiles.</a:t>
            </a:r>
          </a:p>
          <a:p>
            <a:r>
              <a:rPr sz="1800">
                <a:solidFill>
                  <a:srgbClr val="1F1F1F"/>
                </a:solidFill>
              </a:rPr>
              <a:t>• The JD explicitly warns: 'the right answer is not find candidates whose skills section contains the most AI keywords.'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A43"/>
                </a:solidFill>
              </a:rPr>
              <a:t>Data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1F1F"/>
                </a:solidFill>
              </a:rPr>
              <a:t>• Pool of 100 000 candidates, 487 MB JSONL.</a:t>
            </a:r>
          </a:p>
          <a:p>
            <a:r>
              <a:rPr sz="1800">
                <a:solidFill>
                  <a:srgbClr val="1F1F1F"/>
                </a:solidFill>
              </a:rPr>
              <a:t>• Top titles are dominated by non-tech roles: Mechanical Engineer, HR Manager, Content Writer, Business Analyst, Sales Exec, Customer Support, Accountant, Civil Engineer, Graphic Designer, Operations Manager, Project Manager, Marketing Manager.</a:t>
            </a:r>
          </a:p>
          <a:p>
            <a:r>
              <a:rPr sz="1800">
                <a:solidFill>
                  <a:srgbClr val="1F1F1F"/>
                </a:solidFill>
              </a:rPr>
              <a:t>• Software Engineer and friends are a minority; 'AI/ML' as an industry label is &lt; 0.5 % of candidates.</a:t>
            </a:r>
          </a:p>
          <a:p>
            <a:r>
              <a:rPr sz="1800">
                <a:solidFill>
                  <a:srgbClr val="1F1F1F"/>
                </a:solidFill>
              </a:rPr>
              <a:t>• 75 % of candidates are in India; Noida + Pune have ~4 000 candidates each.</a:t>
            </a:r>
          </a:p>
          <a:p>
            <a:r>
              <a:rPr sz="1800">
                <a:solidFill>
                  <a:srgbClr val="1F1F1F"/>
                </a:solidFill>
              </a:rPr>
              <a:t>• Years-of-experience: median 6.8 yrs, mean 7.2 yrs (matches the 5-9 band).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A43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1F1F"/>
                </a:solidFill>
              </a:rPr>
              <a:t>• Build phase (offline, network-allowed): BM25 index, dense index, feature store, LTR, LLM portraits.</a:t>
            </a:r>
          </a:p>
          <a:p>
            <a:r>
              <a:rPr sz="1800">
                <a:solidFill>
                  <a:srgbClr val="1F1F1F"/>
                </a:solidFill>
              </a:rPr>
              <a:t>• Rank phase (sandbox-reproducible): single Python process, no network, &lt; 120 s wall on 16 GB CPU.</a:t>
            </a:r>
          </a:p>
          <a:p>
            <a:r>
              <a:rPr sz="1800">
                <a:solidFill>
                  <a:srgbClr val="1F1F1F"/>
                </a:solidFill>
              </a:rPr>
              <a:t>• Graceful degradation: if the dense index is missing, the pipeline falls back to BM25-only retrieval.</a:t>
            </a:r>
          </a:p>
          <a:p>
            <a:r>
              <a:rPr sz="1800">
                <a:solidFill>
                  <a:srgbClr val="1F1F1F"/>
                </a:solidFill>
              </a:rPr>
              <a:t>• Per-candidate behavioral scores (availability, positive, negative, honeypot) are precomputed in batch and looked up at rank time — no per-candidate Python calls in the inner loop.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A43"/>
                </a:solidFill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1F1F"/>
                </a:solidFill>
              </a:rPr>
              <a:t>• 1. Build the per-candidate `deep_profile` text (career evidence first, skills second).</a:t>
            </a:r>
          </a:p>
          <a:p>
            <a:r>
              <a:rPr sz="1800">
                <a:solidFill>
                  <a:srgbClr val="1F1F1F"/>
                </a:solidFill>
              </a:rPr>
              <a:t>• 2. BM25 over the corpus + (optional) dense retrieval + RRF fusion.</a:t>
            </a:r>
          </a:p>
          <a:p>
            <a:r>
              <a:rPr sz="1800">
                <a:solidFill>
                  <a:srgbClr val="1F1F1F"/>
                </a:solidFill>
              </a:rPr>
              <a:t>• 3. Cross-encoder rerank of the top 500.</a:t>
            </a:r>
          </a:p>
          <a:p>
            <a:r>
              <a:rPr sz="1800">
                <a:solidFill>
                  <a:srgbClr val="1F1F1F"/>
                </a:solidFill>
              </a:rPr>
              <a:t>• 4. LightGBM LambdaRank scoring (trained with bucket groups to bypass the 10k-row limit).</a:t>
            </a:r>
          </a:p>
          <a:p>
            <a:r>
              <a:rPr sz="1800">
                <a:solidFill>
                  <a:srgbClr val="1F1F1F"/>
                </a:solidFill>
              </a:rPr>
              <a:t>• 5. Ensemble: 0.55·σ(LTR) + 0.20·σ(CE) + 0.10·availability + 0.10·positive − 0.10·negative − 0.20·honeypot.</a:t>
            </a:r>
          </a:p>
          <a:p>
            <a:r>
              <a:rPr sz="1800">
                <a:solidFill>
                  <a:srgbClr val="1F1F1F"/>
                </a:solidFill>
              </a:rPr>
              <a:t>• 6. Strictly monotonic score calibration (0.99 → 0.20 with jitter).</a:t>
            </a:r>
          </a:p>
          <a:p>
            <a:r>
              <a:rPr sz="1800">
                <a:solidFill>
                  <a:srgbClr val="1F1F1F"/>
                </a:solidFill>
              </a:rPr>
              <a:t>• 7. Look up pre-stored reasoning (LLM portrait, or feature-driven template fallback).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A43"/>
                </a:solidFill>
              </a:rPr>
              <a:t>Trap-Aware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1F1F"/>
                </a:solidFill>
              </a:rPr>
              <a:t>• Honeypot risk = weighted sum of 7 rule signals: skill-proficiency-vs-duration, YOE-vs-career-sum, perfect-skill-list-with-non-tech-title, multiple current positions, expert-in-too-many-skills, all-skills-zero-endorsements, high-skill-count-no-career-evidence.</a:t>
            </a:r>
          </a:p>
          <a:p>
            <a:r>
              <a:rPr sz="1800">
                <a:solidFill>
                  <a:srgbClr val="1F1F1F"/>
                </a:solidFill>
              </a:rPr>
              <a:t>• JD negative filters (each contributes a weighted penalty): only-consulting, only-CV/robotics/speech, title-chaser, closed-source-only, LangChain-recent-only, no-NLP/IR-in-career, YOE-out-of-band.</a:t>
            </a:r>
          </a:p>
          <a:p>
            <a:r>
              <a:rPr sz="1800">
                <a:solidFill>
                  <a:srgbClr val="1F1F1F"/>
                </a:solidFill>
              </a:rPr>
              <a:t>• JD positive boosters: has-AI-career-evidence, shipped-ranking-or-search-at-scale, tier-1/2 education, Noida/Pune-or-relocate, GitHub/open-source, hybrid/onsite, sub-30-day notice, active-30-days.</a:t>
            </a:r>
          </a:p>
          <a:p>
            <a:r>
              <a:rPr sz="1800">
                <a:solidFill>
                  <a:srgbClr val="1F1F1F"/>
                </a:solidFill>
              </a:rPr>
              <a:t>• Honeypot signal is subtracted from the ensemble score, so a high-risk candidate can never climb into the top 100.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A43"/>
                </a:solidFill>
              </a:rPr>
              <a:t>Hybrid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1F1F"/>
                </a:solidFill>
              </a:rPr>
              <a:t>• BM25 (rank_bm25) over the `deep_profile` text catches literal vocabulary matches.</a:t>
            </a:r>
          </a:p>
          <a:p>
            <a:r>
              <a:rPr sz="1800">
                <a:solidFill>
                  <a:srgbClr val="1F1F1F"/>
                </a:solidFill>
              </a:rPr>
              <a:t>• Dense retrieval (BGE-small-en-v1.5, optional) catches semantic matches.</a:t>
            </a:r>
          </a:p>
          <a:p>
            <a:r>
              <a:rPr sz="1800">
                <a:solidFill>
                  <a:srgbClr val="1F1F1F"/>
                </a:solidFill>
              </a:rPr>
              <a:t>• Reciprocal Rank Fusion (k=60) combines the two; disagreement is informative.</a:t>
            </a:r>
          </a:p>
          <a:p>
            <a:r>
              <a:rPr sz="1800">
                <a:solidFill>
                  <a:srgbClr val="1F1F1F"/>
                </a:solidFill>
              </a:rPr>
              <a:t>• Cross-encoder (`ms-marco-MiniLM-L-6-v2`, 90 MB) reranks the top 500 → top 200.</a:t>
            </a:r>
          </a:p>
          <a:p>
            <a:r>
              <a:rPr sz="1800">
                <a:solidFill>
                  <a:srgbClr val="1F1F1F"/>
                </a:solidFill>
              </a:rPr>
              <a:t>• All four stages fit in &lt; 5 s on 16 GB CPU; deterministic for the same index.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A43"/>
                </a:solidFill>
              </a:rPr>
              <a:t>LTR + 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1F1F"/>
                </a:solidFill>
              </a:rPr>
              <a:t>• LightGBM LambdaRank with 67 features (seniority, AI evidence, product-company count, location, JD positives/negatives, behavioral, honeypot, raw signals).</a:t>
            </a:r>
          </a:p>
          <a:p>
            <a:r>
              <a:rPr sz="1800">
                <a:solidFill>
                  <a:srgbClr val="1F1F1F"/>
                </a:solidFill>
              </a:rPr>
              <a:t>• Training labels = 0-4 proxy-relevance tier from JD-derived heuristics (AI evidence × seniority × location × product-company × behavior).</a:t>
            </a:r>
          </a:p>
          <a:p>
            <a:r>
              <a:rPr sz="1800">
                <a:solidFill>
                  <a:srgbClr val="1F1F1F"/>
                </a:solidFill>
              </a:rPr>
              <a:t>• Bucket groups (5 000 rows each) to satisfy the 10k-row-per-query limit while keeping one global ranking problem.</a:t>
            </a:r>
          </a:p>
          <a:p>
            <a:r>
              <a:rPr sz="1800">
                <a:solidFill>
                  <a:srgbClr val="1F1F1F"/>
                </a:solidFill>
              </a:rPr>
              <a:t>• Ensemble blends LTR, cross-encoder, behavioral availability, positive boosters, negative filters, and honeypot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A43"/>
                </a:solidFill>
              </a:rPr>
              <a:t>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1F1F"/>
                </a:solidFill>
              </a:rPr>
              <a:t>• Proxy NDCG@10 (full pool, 100 k) is hard to compute without ground truth; we use proxy-relevance on the dev split.</a:t>
            </a:r>
          </a:p>
          <a:p>
            <a:r>
              <a:rPr sz="1800">
                <a:solidFill>
                  <a:srgbClr val="1F1F1F"/>
                </a:solidFill>
              </a:rPr>
              <a:t>• 5-fold CV on the LTR yields a stable composite.</a:t>
            </a:r>
          </a:p>
          <a:p>
            <a:r>
              <a:rPr sz="1800">
                <a:solidFill>
                  <a:srgbClr val="1F1F1F"/>
                </a:solidFill>
              </a:rPr>
              <a:t>• Ablation on a 5 k dev split (in `reports/benchmark.md`):</a:t>
            </a:r>
          </a:p>
          <a:p>
            <a:r>
              <a:rPr sz="1800">
                <a:solidFill>
                  <a:srgbClr val="1F1F1F"/>
                </a:solidFill>
              </a:rPr>
              <a:t>•    • random baseline         — composite 0.00</a:t>
            </a:r>
          </a:p>
          <a:p>
            <a:r>
              <a:rPr sz="1800">
                <a:solidFill>
                  <a:srgbClr val="1F1F1F"/>
                </a:solidFill>
              </a:rPr>
              <a:t>•    • YOE-only                 — composite ~ 0.05</a:t>
            </a:r>
          </a:p>
          <a:p>
            <a:r>
              <a:rPr sz="1800">
                <a:solidFill>
                  <a:srgbClr val="1F1F1F"/>
                </a:solidFill>
              </a:rPr>
              <a:t>•    • industry_ai_ml only      — composite ~ 0.10</a:t>
            </a:r>
          </a:p>
          <a:p>
            <a:r>
              <a:rPr sz="1800">
                <a:solidFill>
                  <a:srgbClr val="1F1F1F"/>
                </a:solidFill>
              </a:rPr>
              <a:t>•    • skills_ai_count only     — composite ~ 0.25</a:t>
            </a:r>
          </a:p>
          <a:p>
            <a:r>
              <a:rPr sz="1800">
                <a:solidFill>
                  <a:srgbClr val="1F1F1F"/>
                </a:solidFill>
              </a:rPr>
              <a:t>•    • proxy_relevance (oracle) — composite ~ 0.65 (upper bound)</a:t>
            </a:r>
          </a:p>
          <a:p>
            <a:r>
              <a:rPr sz="1800">
                <a:solidFill>
                  <a:srgbClr val="1F1F1F"/>
                </a:solidFill>
              </a:rPr>
              <a:t>• LTR + ensemble closes ~ 80 % of the gap between the random and the proxy-oracle.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A43"/>
                </a:solidFill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1F1F"/>
                </a:solidFill>
              </a:rPr>
              <a:t>• Top-10 dominated by ML Engineers, AI Engineers, Data Scientists, AI Research Engineers, Computer Vision Engineers — all in or near the 5-9 yrs band.</a:t>
            </a:r>
          </a:p>
          <a:p>
            <a:r>
              <a:rPr sz="1800">
                <a:solidFill>
                  <a:srgbClr val="1F1F1F"/>
                </a:solidFill>
              </a:rPr>
              <a:t>• Bottom of top-100 still includes some non-AI candidates (the JD accepts 10 great matches over 1 000 maybes), but the surface area is bounded by the strict monotonicity + honeypot subtraction.</a:t>
            </a:r>
          </a:p>
          <a:p>
            <a:r>
              <a:rPr sz="1800">
                <a:solidFill>
                  <a:srgbClr val="1F1F1F"/>
                </a:solidFill>
              </a:rPr>
              <a:t>• Submission validates against the official `validate_submission.py`.</a:t>
            </a:r>
          </a:p>
          <a:p>
            <a:r>
              <a:rPr sz="1800">
                <a:solidFill>
                  <a:srgbClr val="1F1F1F"/>
                </a:solidFill>
              </a:rPr>
              <a:t>• Stage 3 reproduction: &lt; 120 s on 16 GB CPU.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A43"/>
                </a:solidFill>
              </a:rP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1F1F"/>
                </a:solidFill>
              </a:rPr>
              <a:t>• The 5-min CPU budget is generous for ranking once the build is split out. Most of the time goes to building the BM25 index and the feature table — not the ranking step itself.</a:t>
            </a:r>
          </a:p>
          <a:p>
            <a:r>
              <a:rPr sz="1800">
                <a:solidFill>
                  <a:srgbClr val="1F1F1F"/>
                </a:solidFill>
              </a:rPr>
              <a:t>• LightGBM lambdarank has a 10k-row-per-query limit. Splitting into multiple 'queries' (5k-row buckets) keeps the same global ranking problem and is 50× faster than 1k-fold CV.</a:t>
            </a:r>
          </a:p>
          <a:p>
            <a:r>
              <a:rPr sz="1800">
                <a:solidFill>
                  <a:srgbClr val="1F1F1F"/>
                </a:solidFill>
              </a:rPr>
              <a:t>• Caching yaml config reads is a 30× speedup when scoring 100k candidates.</a:t>
            </a:r>
          </a:p>
          <a:p>
            <a:r>
              <a:rPr sz="1800">
                <a:solidFill>
                  <a:srgbClr val="1F1F1F"/>
                </a:solidFill>
              </a:rPr>
              <a:t>• Honeypot detection should be a score, not a hard filter. Subtracting the risk from the ensemble lets a perfect-on-paper candidate still be in the top 100 if all other signals are overwhelmingly positive (which, in this pool, never happens).</a:t>
            </a:r>
          </a:p>
          <a:p>
            <a:r>
              <a:rPr sz="1800">
                <a:solidFill>
                  <a:srgbClr val="1F1F1F"/>
                </a:solidFill>
              </a:rPr>
              <a:t>• When the LLM API is unreachable, a feature-driven template is the right fallback for the Stage 4 review — it cites a specific positive signal and an honest concern per candidate.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A43"/>
                </a:solidFill>
              </a:rP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1F1F"/>
                </a:solidFill>
              </a:rPr>
              <a:t>• Replace bge-small-en with bge-m3 or NV-Embed-v2 in a one-time cloud build; same code path.</a:t>
            </a:r>
          </a:p>
          <a:p>
            <a:r>
              <a:rPr sz="1800">
                <a:solidFill>
                  <a:srgbClr val="1F1F1F"/>
                </a:solidFill>
              </a:rPr>
              <a:t>• Add a ColBERTv2 late-interaction rerank over the top 200 (5k rows × 128 tokens → 640k embeddings).</a:t>
            </a:r>
          </a:p>
          <a:p>
            <a:r>
              <a:rPr sz="1800">
                <a:solidFill>
                  <a:srgbClr val="1F1F1F"/>
                </a:solidFill>
              </a:rPr>
              <a:t>• Bootstrap a much larger LTR training set with active learning on the top-100 disagreements.</a:t>
            </a:r>
          </a:p>
          <a:p>
            <a:r>
              <a:rPr sz="1800">
                <a:solidFill>
                  <a:srgbClr val="1F1F1F"/>
                </a:solidFill>
              </a:rPr>
              <a:t>• Add a per-JD query rewriter (LLM, build-time) to expand the BM25 query with synonyms and related terms.</a:t>
            </a:r>
          </a:p>
          <a:p>
            <a:r>
              <a:rPr sz="1800">
                <a:solidFill>
                  <a:srgbClr val="1F1F1F"/>
                </a:solidFill>
              </a:rPr>
              <a:t>• Replace MiniLM with BGE-reranker-v2-m3 on a single A10G when GPU is available at build.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A43"/>
                </a:solidFill>
              </a:rPr>
              <a:t>Competition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1F1F"/>
                </a:solidFill>
              </a:rPr>
              <a:t>• Three-submission cap, no live leaderboard. We used a single best-effort submission to avoid spending attempts on partial experiments.</a:t>
            </a:r>
          </a:p>
          <a:p>
            <a:r>
              <a:rPr sz="1800">
                <a:solidFill>
                  <a:srgbClr val="1F1F1F"/>
                </a:solidFill>
              </a:rPr>
              <a:t>• Two attempts are kept in reserve in case the leaderboard shows a surprising ranking pattern after the reveal.</a:t>
            </a:r>
          </a:p>
          <a:p>
            <a:r>
              <a:rPr sz="1800">
                <a:solidFill>
                  <a:srgbClr val="1F1F1F"/>
                </a:solidFill>
              </a:rPr>
              <a:t>• Stage 4 (manual review) is where 80% of the tiebreaks will happen — reasoning quality, methodology coherence, git history authenticity.</a:t>
            </a:r>
          </a:p>
          <a:p>
            <a:r>
              <a:rPr sz="1800">
                <a:solidFill>
                  <a:srgbClr val="1F1F1F"/>
                </a:solidFill>
              </a:rPr>
              <a:t>• Final ranking emphasizes: (1) the trap-aware framing, (2) the career-vs-skills weighting, (3) the clean, deterministic, reproducible pipeline.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02A43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F1F1F"/>
                </a:solidFill>
              </a:rPr>
              <a:t>• Repository: https://github.com/arsat/india-runs-ranking</a:t>
            </a:r>
          </a:p>
          <a:p>
            <a:r>
              <a:rPr sz="1800">
                <a:solidFill>
                  <a:srgbClr val="1F1F1F"/>
                </a:solidFill>
              </a:rPr>
              <a:t>• Reproducibility: `python scripts/build_artifacts.py ...` → `python src/serving/rank.py ...`</a:t>
            </a:r>
          </a:p>
          <a:p>
            <a:r>
              <a:rPr sz="1800">
                <a:solidFill>
                  <a:srgbClr val="1F1F1F"/>
                </a:solidFill>
              </a:rPr>
              <a:t>• Stage 3 reproduction: &lt; 120 s, 16 GB RAM, CPU only, no network.</a:t>
            </a:r>
          </a:p>
          <a:p>
            <a:r>
              <a:rPr sz="1800">
                <a:solidFill>
                  <a:srgbClr val="1F1F1F"/>
                </a:solidFill>
              </a:rPr>
              <a:t>•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